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hosto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0352"/>
            <a:ext cx="1828800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536192"/>
            <a:ext cx="2103120" cy="301752"/>
          </a:xfrm>
          <a:prstGeom prst="roundRect">
            <a:avLst/>
          </a:prstGeom>
          <a:solidFill>
            <a:srgbClr val="F6BF42"/>
          </a:solidFill>
          <a:ln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604772"/>
            <a:ext cx="1956815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NEUROX 1.0 · 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47672"/>
            <a:ext cx="7498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4F8FC"/>
                </a:solidFill>
                <a:latin typeface="Aptos"/>
              </a:rPr>
              <a:t>GhostBusters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24912"/>
            <a:ext cx="7955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48DED8"/>
                </a:solidFill>
                <a:latin typeface="Aptos"/>
              </a:rPr>
              <a:t>A controlled autonomous FinOps agent for safe cloud-cost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9272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C4D2"/>
                </a:solidFill>
                <a:latin typeface="Aptos"/>
              </a:rPr>
              <a:t>From a high-level objective to evidence, policy, human review, and an auditable remediation proposal.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41648"/>
            <a:ext cx="1874519" cy="301752"/>
          </a:xfrm>
          <a:prstGeom prst="roundRect">
            <a:avLst/>
          </a:prstGeom>
          <a:solidFill>
            <a:srgbClr val="A76DF1"/>
          </a:solidFill>
          <a:ln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4110228"/>
            <a:ext cx="17282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Goal-directed autonomy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4041648"/>
            <a:ext cx="1874519" cy="301752"/>
          </a:xfrm>
          <a:prstGeom prst="roundRect">
            <a:avLst/>
          </a:prstGeom>
          <a:solidFill>
            <a:srgbClr val="41BEE8"/>
          </a:solidFill>
          <a:ln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4110228"/>
            <a:ext cx="17282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Multi-tool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4041648"/>
            <a:ext cx="1874519" cy="301752"/>
          </a:xfrm>
          <a:prstGeom prst="roundRect">
            <a:avLst/>
          </a:prstGeom>
          <a:solidFill>
            <a:srgbClr val="5BCC7E"/>
          </a:solidFill>
          <a:ln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4110228"/>
            <a:ext cx="17282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Human-controlled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EC4D2"/>
                </a:solidFill>
                <a:latin typeface="Aptos"/>
              </a:rPr>
              <a:t>Team: [Add team name / members]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Built to answer the Phase 2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Every core requirement is visible in the product and deliberately highlighted in this 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73352"/>
            <a:ext cx="3429000" cy="157276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64008" cy="1572768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74520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B2B impact &amp;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95144"/>
            <a:ext cx="29535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FinOps cost-control workflow for cloud and Terraform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83794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6BF42"/>
                </a:solidFill>
                <a:latin typeface="Aptos"/>
              </a:rPr>
              <a:t>25%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73352"/>
            <a:ext cx="3429000" cy="157276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73352"/>
            <a:ext cx="64008" cy="1572768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874520"/>
            <a:ext cx="2953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Autonomous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295144"/>
            <a:ext cx="29535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Goal → plan → selective tools → branch/retry →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83794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A76DF1"/>
                </a:solidFill>
                <a:latin typeface="Aptos"/>
              </a:rP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73352"/>
            <a:ext cx="3429000" cy="157276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73352"/>
            <a:ext cx="64008" cy="1572768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1874520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Technical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295144"/>
            <a:ext cx="29535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FastAPI, Pydantic contracts, adapters, PostgreSQL, Redis,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6768" y="183794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41BEE8"/>
                </a:solidFill>
                <a:latin typeface="Aptos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85032"/>
            <a:ext cx="3429000" cy="157276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685032"/>
            <a:ext cx="64008" cy="1572768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886200"/>
            <a:ext cx="2953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Human in the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306824"/>
            <a:ext cx="29535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Approve, reject, modify, request evidence, add context, waive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84962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5BCC7E"/>
                </a:solidFill>
                <a:latin typeface="Aptos"/>
              </a:rPr>
              <a:t>15%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85032"/>
            <a:ext cx="3429000" cy="157276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48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685032"/>
            <a:ext cx="64008" cy="1572768"/>
          </a:xfrm>
          <a:prstGeom prst="rect">
            <a:avLst/>
          </a:prstGeom>
          <a:solidFill>
            <a:srgbClr val="F48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886200"/>
            <a:ext cx="2953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8944"/>
                </a:solidFill>
                <a:latin typeface="Aptos"/>
              </a:rPr>
              <a:t>Live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306824"/>
            <a:ext cx="29535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 controlled, explainable end-to-end agent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384962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48944"/>
                </a:solidFill>
                <a:latin typeface="Aptos"/>
              </a:rPr>
              <a:t>15%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77840"/>
            <a:ext cx="10972800" cy="54864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577840"/>
            <a:ext cx="64008" cy="548640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779007"/>
            <a:ext cx="104973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Presentation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6199631"/>
            <a:ext cx="10497312" cy="-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We demonstrate genuine, bounded autonomy—not a chatbot, a fixed pipeline, a single API call, or a fake demo.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The B2B problem: cloud waste is easy to see, hard to change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Teams need savings opportunities with enough evidence and governance to act—not another noisy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324612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3246120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938528"/>
            <a:ext cx="329184" cy="329184"/>
          </a:xfrm>
          <a:prstGeom prst="ellipse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7053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93852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The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59152"/>
            <a:ext cx="2953512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Low utilization alone cannot justify a change. Ownership, dependencies, production risk, business context, pricing, and recent engineering activity may tell a different 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37360"/>
            <a:ext cx="3429000" cy="324612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737360"/>
            <a:ext cx="64008" cy="324612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193852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97053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93852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59152"/>
            <a:ext cx="2953512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FinOps findings often become manual investigations spread across Terraform, cloud consoles, GitHub, Jira, and people. Decisions are slow and hard to audit.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1737360"/>
            <a:ext cx="3429000" cy="324612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1737360"/>
            <a:ext cx="64008" cy="3246120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97053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1938528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GhostBusters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2359152"/>
            <a:ext cx="2953512" cy="2496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 controlled agent converts a broad objective into a traceable recommendation: what it investigated, why it chose each tool, what it found, and where a human must decide.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486400"/>
            <a:ext cx="10058400" cy="301752"/>
          </a:xfrm>
          <a:prstGeom prst="roundRect">
            <a:avLst/>
          </a:prstGeom>
          <a:solidFill>
            <a:srgbClr val="5BCC7E"/>
          </a:solidFill>
          <a:ln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5554980"/>
            <a:ext cx="99120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B2B value: safer savings discovery + lower investigation effort + auditable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What makes GhostBusters an autonomous agent?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It decides what to investigate next from the goal, resource state, evidence quality, and safety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1554480" cy="16002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64008" cy="160020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258568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290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58568"/>
            <a:ext cx="667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9192"/>
            <a:ext cx="10789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Interpret an objective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02536" y="2697480"/>
            <a:ext cx="256032" cy="292608"/>
          </a:xfrm>
          <a:prstGeom prst="rightArrow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31720" y="2057400"/>
            <a:ext cx="1554480" cy="16002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057400"/>
            <a:ext cx="64008" cy="1600200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42032" y="2258568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2290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258568"/>
            <a:ext cx="667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679192"/>
            <a:ext cx="10789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Choose questions &amp; tools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922776" y="26974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51960" y="2057400"/>
            <a:ext cx="1554480" cy="16002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057400"/>
            <a:ext cx="64008" cy="1600200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62272" y="2258568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2290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2258568"/>
            <a:ext cx="667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2679192"/>
            <a:ext cx="10789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Collect structured evidence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43016" y="2697480"/>
            <a:ext cx="256032" cy="292608"/>
          </a:xfrm>
          <a:prstGeom prst="rightArrow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2057400"/>
            <a:ext cx="1554480" cy="16002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057400"/>
            <a:ext cx="64008" cy="160020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82512" y="225856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290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2258568"/>
            <a:ext cx="667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Reason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679192"/>
            <a:ext cx="10789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Compare alternatives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763256" y="2697480"/>
            <a:ext cx="256032" cy="292608"/>
          </a:xfrm>
          <a:prstGeom prst="rightArrow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92440" y="2057400"/>
            <a:ext cx="1554480" cy="16002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2057400"/>
            <a:ext cx="64008" cy="1600200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2" y="2258568"/>
            <a:ext cx="329184" cy="329184"/>
          </a:xfrm>
          <a:prstGeom prst="ellipse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2290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8" y="2258568"/>
            <a:ext cx="667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Branch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2679192"/>
            <a:ext cx="10789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Retry / escalate / abstain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683496" y="2697480"/>
            <a:ext cx="256032" cy="292608"/>
          </a:xfrm>
          <a:prstGeom prst="rightArrow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012680" y="2057400"/>
            <a:ext cx="1554480" cy="16002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12680" y="2057400"/>
            <a:ext cx="64008" cy="160020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2992" y="2258568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22992" y="2290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71048" y="2258568"/>
            <a:ext cx="667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Deliver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9567" y="2679192"/>
            <a:ext cx="107899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Proposal + decision trail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4251960"/>
            <a:ext cx="5166360" cy="11430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9808" y="4251960"/>
            <a:ext cx="64008" cy="114300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5" y="4453128"/>
            <a:ext cx="46908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Dynamic rather than fixed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" y="4873752"/>
            <a:ext cx="46908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Production/destructive signals skip normal optimization. Missing evidence triggers a request for evidence or abstention. Active dependencies block remediation. New human context re-runs the evaluation.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4251960"/>
            <a:ext cx="5166360" cy="11430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4251960"/>
            <a:ext cx="64008" cy="1143000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10527" y="4453128"/>
            <a:ext cx="46908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Bounded rather than black-box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7" y="4873752"/>
            <a:ext cx="46908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Optional Gemini may propose an explanation or registered read-only tool. Deterministic validation, verifier checks, policy, and human approval retain final authority.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Clean architecture: orchestration separated from evidence and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The agent is testable without live infrastructure; integrations are narrow adapters, not hidden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54480"/>
            <a:ext cx="1019556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554480"/>
            <a:ext cx="64008" cy="640080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1755648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178765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755648"/>
            <a:ext cx="9308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GhostOps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176272"/>
            <a:ext cx="972007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Overview · Goals · PR Reviews · Cloud Hunt · Approvals ·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414015"/>
            <a:ext cx="1019556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414015"/>
            <a:ext cx="64008" cy="640080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16152" y="2615184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2647187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615184"/>
            <a:ext cx="9308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FastAPI + Pydantic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035808"/>
            <a:ext cx="972007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Authenticated API, role checks, validation, webhooks, readiness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273552"/>
            <a:ext cx="1019556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273552"/>
            <a:ext cx="64008" cy="64008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16152" y="3474720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6152" y="350672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3474720"/>
            <a:ext cx="9308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Workflow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3895344"/>
            <a:ext cx="972007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WorkflowService · CloudHuntService · outcome verification · assistant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133087"/>
            <a:ext cx="1019556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4133087"/>
            <a:ext cx="64008" cy="64008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16152" y="4334255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6152" y="4366259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4334255"/>
            <a:ext cx="9308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Decision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4754879"/>
            <a:ext cx="972007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Planner · investigator · conflicts · alternatives · verifier · confidence · 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992624"/>
            <a:ext cx="1019556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4992624"/>
            <a:ext cx="64008" cy="64008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16152" y="5193792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2" y="5225796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" y="5193792"/>
            <a:ext cx="9308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Adapter + storage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5614416"/>
            <a:ext cx="972007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GitHub · Jira · AWS · Terraform · PostgreSQL · 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98932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C4D2"/>
                </a:solidFill>
                <a:latin typeface="Aptos"/>
              </a:rPr>
              <a:t>Why it matters: tool calls, policy, storage, and UI can evolve independently—while the safety contract stays explicit.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Multi-tool integration: the agent selects evidence, not just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The guideline asks for 3+ external tools/APIs and intelligent tool choice. GhostBusters implements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3429000" cy="12070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64008" cy="1207008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828800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6080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2880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Terraform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49424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Change, environment, destructive/replacement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27632"/>
            <a:ext cx="3429000" cy="12070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627632"/>
            <a:ext cx="64008" cy="1207008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2" y="1828800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86080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182880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249424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PR files, reviews, commits, CODEOWNERS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27632"/>
            <a:ext cx="3429000" cy="12070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627632"/>
            <a:ext cx="64008" cy="1207008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1828800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186080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1828800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Jira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249424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Business state, owner, decommission/migration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00400"/>
            <a:ext cx="3429000" cy="12070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200400"/>
            <a:ext cx="64008" cy="1207008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2" y="340156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433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40156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AWS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3822191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Inventory, CloudWatch utilization, pricing provenance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200400"/>
            <a:ext cx="3429000" cy="12070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3200400"/>
            <a:ext cx="64008" cy="1207008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45152" y="3401568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3433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340156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Dependencies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3822191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Active downstream protections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200400"/>
            <a:ext cx="3429000" cy="12070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48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200400"/>
            <a:ext cx="64008" cy="1207008"/>
          </a:xfrm>
          <a:prstGeom prst="rect">
            <a:avLst/>
          </a:prstGeom>
          <a:solidFill>
            <a:srgbClr val="F48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9912" y="3401568"/>
            <a:ext cx="329184" cy="329184"/>
          </a:xfrm>
          <a:prstGeom prst="ellipse">
            <a:avLst/>
          </a:prstGeom>
          <a:solidFill>
            <a:srgbClr val="F48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912" y="34335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8" y="3401568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8944"/>
                </a:solidFill>
                <a:latin typeface="Aptos"/>
              </a:rPr>
              <a:t>Pricing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822191"/>
            <a:ext cx="2953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Savings estimate with source/provenance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010912"/>
            <a:ext cx="10972800" cy="749808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010912"/>
            <a:ext cx="64008" cy="749808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5212080"/>
            <a:ext cx="104973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Example of agent selection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5632704"/>
            <a:ext cx="1049731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 GitHub-related goal activates PR context, ownership, activity and review tools. An AWS-related goal activates inventory, CloudWatch, tags and pricing. The planner records selected and skipped tools with reasons.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Autonomous workflow in action: Terraform PR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An end-to-end loop from a high-level goal to a human-reviewed remediation proposal.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64008" cy="987552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2075688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075688"/>
            <a:ext cx="466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Goal / webhook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14" name="Right Arrow 13"/>
          <p:cNvSpPr/>
          <p:nvPr/>
        </p:nvSpPr>
        <p:spPr>
          <a:xfrm>
            <a:off x="1691640" y="22402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02536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02536" y="1874519"/>
            <a:ext cx="64008" cy="987552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12848" y="2075688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4" y="2075688"/>
            <a:ext cx="4663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Parse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9424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21" name="Right Arrow 20"/>
          <p:cNvSpPr/>
          <p:nvPr/>
        </p:nvSpPr>
        <p:spPr>
          <a:xfrm>
            <a:off x="3374136" y="22402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85032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85032" y="1874519"/>
            <a:ext cx="64008" cy="98755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95344" y="2075688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5344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075688"/>
            <a:ext cx="466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Plan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28" name="Right Arrow 27"/>
          <p:cNvSpPr/>
          <p:nvPr/>
        </p:nvSpPr>
        <p:spPr>
          <a:xfrm>
            <a:off x="5056632" y="22402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67528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7528" y="1874519"/>
            <a:ext cx="64008" cy="98755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77840" y="2075688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5896" y="2075688"/>
            <a:ext cx="466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Collect + retry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4416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35" name="Right Arrow 34"/>
          <p:cNvSpPr/>
          <p:nvPr/>
        </p:nvSpPr>
        <p:spPr>
          <a:xfrm>
            <a:off x="6739128" y="22402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50024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50024" y="1874519"/>
            <a:ext cx="64008" cy="987552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60336" y="207568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8392" y="2075688"/>
            <a:ext cx="4663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Detect conflicts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42" name="Right Arrow 41"/>
          <p:cNvSpPr/>
          <p:nvPr/>
        </p:nvSpPr>
        <p:spPr>
          <a:xfrm>
            <a:off x="8421624" y="22402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32520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32520" y="1874519"/>
            <a:ext cx="64008" cy="987552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42832" y="2075688"/>
            <a:ext cx="329184" cy="329184"/>
          </a:xfrm>
          <a:prstGeom prst="ellipse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2832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2075688"/>
            <a:ext cx="4663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Policy + confidence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9408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49" name="Right Arrow 48"/>
          <p:cNvSpPr/>
          <p:nvPr/>
        </p:nvSpPr>
        <p:spPr>
          <a:xfrm>
            <a:off x="10104120" y="2240280"/>
            <a:ext cx="256032" cy="292608"/>
          </a:xfrm>
          <a:prstGeom prst="rightArrow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415016" y="1874519"/>
            <a:ext cx="1353312" cy="98755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415016" y="1874519"/>
            <a:ext cx="64008" cy="987552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25328" y="2075688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25328" y="21076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73384" y="2075688"/>
            <a:ext cx="4663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Human 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1904" y="2496312"/>
            <a:ext cx="877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3730752"/>
            <a:ext cx="3474720" cy="123444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368" y="3730752"/>
            <a:ext cx="64008" cy="123444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" y="3931920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Safe result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4352544"/>
            <a:ext cx="299923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Eligible staging right-sizing recommendation; approval produces a simulated PR by default, or a narrowly validated real PR only when explicitly enabled.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61688" y="3730752"/>
            <a:ext cx="3474720" cy="123444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61688" y="3730752"/>
            <a:ext cx="64008" cy="123444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08575" y="3931920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Ambiguous result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8575" y="4352544"/>
            <a:ext cx="299923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Conflicting Jira and Git signals lower confidence and route the case to request evidence / human context rather than pretending certainty.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65008" y="3730752"/>
            <a:ext cx="3474720" cy="123444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65008" y="3730752"/>
            <a:ext cx="64008" cy="1234440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1896" y="3931920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Unsafe result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11896" y="4352544"/>
            <a:ext cx="299923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Production, destructive changes, active dependencies, unknown ownership, or critical missing evidence block remediation.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Adaptive behavior and failure recovery—not a scripted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The agent changes course when tools fail or evidence changes the safety picture.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074920" cy="15087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64008" cy="1508760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38528"/>
            <a:ext cx="329184" cy="329184"/>
          </a:xfrm>
          <a:prstGeom prst="ellipse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7053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38528"/>
            <a:ext cx="4187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Missing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459943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Tool timeout/unavailability is recorded as unavailable evidence. Bounded retry/backoff runs. The agent requests evidence or abstains; it never invents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074920" cy="15087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37360"/>
            <a:ext cx="64008" cy="150876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193852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97053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4187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Conflicting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59152"/>
            <a:ext cx="459943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Recent Git activity can contradict a completed Jira issue. Conflict detection penalizes confidence and routes to human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75887"/>
            <a:ext cx="5074920" cy="15087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75887"/>
            <a:ext cx="64008" cy="150876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3877055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909059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877055"/>
            <a:ext cx="4187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Protection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97679"/>
            <a:ext cx="459943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Production or an active dependency changes the plan: normal optimization stops and policy blocks remediation.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675887"/>
            <a:ext cx="5074920" cy="15087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675887"/>
            <a:ext cx="64008" cy="150876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82512" y="3877055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909059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877055"/>
            <a:ext cx="4187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Human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297679"/>
            <a:ext cx="4599431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 reviewer can add context, modify, request new evidence, reject, waive, revoke approval, or reopen. The case state and audit trail update.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815584"/>
            <a:ext cx="10149840" cy="301752"/>
          </a:xfrm>
          <a:prstGeom prst="roundRect">
            <a:avLst/>
          </a:prstGeom>
          <a:solidFill>
            <a:srgbClr val="48DED8"/>
          </a:solidFill>
          <a:ln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884164"/>
            <a:ext cx="1000353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Demo proof point: run Safe → Conflicting → Missing Evidence to show three different agent branches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Human-in-the-loop: autonomy with meaningful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GhostBusters prepares the decision; authorized people own the decision to proceed.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29000" cy="336499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64008" cy="3364992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892808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2481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9280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Before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13432"/>
            <a:ext cx="2953512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The system surfaces evidence, conflicts, alternatives, confidence, verifier findings, policy result, estimated savings, and explicit risks. Human approval is mandatory for remediation.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91640"/>
            <a:ext cx="3429000" cy="336499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64008" cy="3364992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2" y="1892808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92481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89280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At the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313432"/>
            <a:ext cx="2953512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Reviewers can approve, reject, modify the recommendation, request evidence, add context, create a waiver, revoke approval, or reopen a case. Roles and organization boundaries are enforced.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91640"/>
            <a:ext cx="3429000" cy="336499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91640"/>
            <a:ext cx="64008" cy="3364992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48472" y="189280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92481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892808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After the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313432"/>
            <a:ext cx="2953512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The result is an auditable proposal—not infrastructure mutation. Outcome verification can record deployment confirmation, observed savings, health signals, partial outcomes, or regressions.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32120"/>
            <a:ext cx="10378440" cy="301752"/>
          </a:xfrm>
          <a:prstGeom prst="roundRect">
            <a:avLst/>
          </a:prstGeom>
          <a:solidFill>
            <a:srgbClr val="F26969"/>
          </a:solidFill>
          <a:ln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600700"/>
            <a:ext cx="1023213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Non-negotiable safety boundary: no terraform apply · no automatic merge · no cloud mutation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Transparent decision trail: judges can inspect the agent’s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The platform is designed to answer: Why this action? Why these tools? What evidence changed the outcome?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126187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64008" cy="1261872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847088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7909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4708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Goal received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67712"/>
            <a:ext cx="2953512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Objective +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429000" cy="126187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645920"/>
            <a:ext cx="64008" cy="1261872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2" y="1847088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87909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1847088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Plan created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267712"/>
            <a:ext cx="2953512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Questions, selected/skipped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45920"/>
            <a:ext cx="3429000" cy="126187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645920"/>
            <a:ext cx="64008" cy="12618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1847088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187909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1847088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Tools executed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267712"/>
            <a:ext cx="2953512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Input, output, freshness, reliability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73552"/>
            <a:ext cx="3429000" cy="126187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273552"/>
            <a:ext cx="64008" cy="1261872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2" y="3474720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50672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47472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3895344"/>
            <a:ext cx="2953512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Conflicts, alternatives, confidence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273552"/>
            <a:ext cx="3429000" cy="126187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3273552"/>
            <a:ext cx="64008" cy="1261872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45152" y="3474720"/>
            <a:ext cx="329184" cy="329184"/>
          </a:xfrm>
          <a:prstGeom prst="ellipse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350672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347472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Safety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3895344"/>
            <a:ext cx="2953512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Verifier + Rego/Conftest policy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273552"/>
            <a:ext cx="3429000" cy="1261872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273552"/>
            <a:ext cx="64008" cy="1261872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9912" y="3474720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912" y="350672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8" y="3474720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Human 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895344"/>
            <a:ext cx="2953512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Actor, action, comment, version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120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DED8"/>
                </a:solidFill>
                <a:latin typeface="Aptos"/>
              </a:rPr>
              <a:t>Where to show it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4681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Aptos"/>
              </a:rPr>
              <a:t>Technical Audit → tool executions / planning decisions / policy results     •     Activity Log → shared correlation trail     •     Review details → evidence and rationale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Live demonstration plan: show the reasoning, not only the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A seven-minute sequence aligned with the guideline’s core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3351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6DF1"/>
                </a:solidFill>
                <a:latin typeface="Aptos"/>
              </a:rPr>
              <a:t>0:00–0:45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1508760"/>
            <a:ext cx="982980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1508760"/>
            <a:ext cx="64008" cy="64008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1952" y="1709928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74193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1709928"/>
            <a:ext cx="8942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Set the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2130552"/>
            <a:ext cx="93543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Explain the business goal and the agent’s safety boundary.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4203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CC7E"/>
                </a:solidFill>
                <a:latin typeface="Aptos"/>
              </a:rPr>
              <a:t>0:45–2:30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2377439"/>
            <a:ext cx="982980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91640" y="2377439"/>
            <a:ext cx="64008" cy="64008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01952" y="2578608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261061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2578608"/>
            <a:ext cx="8942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Safe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2999232"/>
            <a:ext cx="93543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Start Safe; show tool selection, evidence, recommendation, and approval proposal.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1071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6BF42"/>
                </a:solidFill>
                <a:latin typeface="Aptos"/>
              </a:rPr>
              <a:t>2:30–4:20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246120"/>
            <a:ext cx="982980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91640" y="3246120"/>
            <a:ext cx="64008" cy="64008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01952" y="3447288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01952" y="347929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3447288"/>
            <a:ext cx="8942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Conflict branch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3867911"/>
            <a:ext cx="93543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Start Conflicting; explain why Git vs Jira disagreement changes the outcome.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7939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6969"/>
                </a:solidFill>
                <a:latin typeface="Aptos"/>
              </a:rPr>
              <a:t>4:20–5:40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4114800"/>
            <a:ext cx="982980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2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1640" y="4114800"/>
            <a:ext cx="64008" cy="640080"/>
          </a:xfrm>
          <a:prstGeom prst="rect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01952" y="4315968"/>
            <a:ext cx="329184" cy="329184"/>
          </a:xfrm>
          <a:prstGeom prst="ellipse">
            <a:avLst/>
          </a:prstGeom>
          <a:solidFill>
            <a:srgbClr val="F2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1952" y="434797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0008" y="4315968"/>
            <a:ext cx="8942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6969"/>
                </a:solidFill>
                <a:latin typeface="Aptos"/>
              </a:rPr>
              <a:t>Failure branch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4736592"/>
            <a:ext cx="93543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Start Missing Evidence; show retry/unavailable evidence and safe escalation or abstention.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48071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5:40–7:00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91640" y="4983479"/>
            <a:ext cx="9829800" cy="64008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91640" y="4983479"/>
            <a:ext cx="64008" cy="640080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01952" y="5184647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01952" y="5216651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50008" y="5184647"/>
            <a:ext cx="89428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Trace &amp; close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38528" y="5605271"/>
            <a:ext cx="93543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Open Technical Audit and Activity Log; connect actions to the rubric.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961888"/>
            <a:ext cx="10698480" cy="301752"/>
          </a:xfrm>
          <a:prstGeom prst="roundRect">
            <a:avLst/>
          </a:prstGeom>
          <a:solidFill>
            <a:srgbClr val="F6BF42"/>
          </a:solidFill>
          <a:ln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6030468"/>
            <a:ext cx="1055217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Use a controlled real GitHub PR only if your credentials/configuration are ready; otherwise label fixture data honestly.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Technical credibility: allowed stack, production-aware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Built in Python with conventional services and explicit safety engineering—not an agent-as-a-service or no-code wrapper.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3429000" cy="34290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64008" cy="3429000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828800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6080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2880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Application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49424"/>
            <a:ext cx="2953512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Python · FastAPI · Pydantic · JavaScript frontend · PostgreSQL · Redis · Docker Compose · Render deployment blueprint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27632"/>
            <a:ext cx="3429000" cy="34290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27632"/>
            <a:ext cx="64008" cy="342900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2" y="1828800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6080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82880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AI +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249424"/>
            <a:ext cx="2953512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Optional Gemini / mock provider for constrained planning and explanation; deterministic fallback; Rego policy via Conftest with safe Python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27632"/>
            <a:ext cx="3429000" cy="342900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27632"/>
            <a:ext cx="64008" cy="342900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48472" y="1828800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86080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828800"/>
            <a:ext cx="25420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Operational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249424"/>
            <a:ext cx="2953512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Auth/RBAC · sessions/CSRF · secret redaction · idempotency · row versions · retries/timeouts · allowlists · readiness checks · 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EC4D2"/>
                </a:solidFill>
                <a:latin typeface="Aptos"/>
              </a:rPr>
              <a:t>The architecture makes the agent inspectable: integration calls are recorded, decisions are explainable, and external mutation remains deliberately constrained.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What the judges should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GhostBusters is an autonomous investigation agent with bounded action and full accountability.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0378440" cy="5943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A76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64008" cy="594360"/>
          </a:xfrm>
          <a:prstGeom prst="rect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1618488"/>
            <a:ext cx="329184" cy="329184"/>
          </a:xfrm>
          <a:prstGeom prst="ellipse">
            <a:avLst/>
          </a:prstGeom>
          <a:solidFill>
            <a:srgbClr val="A76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650492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618488"/>
            <a:ext cx="9491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6DF1"/>
                </a:solidFill>
                <a:latin typeface="Aptos"/>
              </a:rPr>
              <a:t>Autonomy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039112"/>
            <a:ext cx="9902952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It turns broad objectives into a dynamic investigation plan and branches on what it learns.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21992"/>
            <a:ext cx="10378440" cy="5943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221992"/>
            <a:ext cx="64008" cy="594360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4712" y="2423160"/>
            <a:ext cx="329184" cy="329184"/>
          </a:xfrm>
          <a:prstGeom prst="ellipse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455164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423160"/>
            <a:ext cx="9491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DED8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843784"/>
            <a:ext cx="9902952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It selects and interprets multiple external evidence sources rather than calling one API.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026664"/>
            <a:ext cx="10378440" cy="5943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5B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026664"/>
            <a:ext cx="64008" cy="594360"/>
          </a:xfrm>
          <a:prstGeom prst="rect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4712" y="3227832"/>
            <a:ext cx="329184" cy="329184"/>
          </a:xfrm>
          <a:prstGeom prst="ellipse">
            <a:avLst/>
          </a:prstGeom>
          <a:solidFill>
            <a:srgbClr val="5BC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259836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227832"/>
            <a:ext cx="9491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CC7E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648456"/>
            <a:ext cx="9902952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It elevates ambiguity and gives humans meaningful, role-governed choices.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831336"/>
            <a:ext cx="10378440" cy="5943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F6B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831336"/>
            <a:ext cx="64008" cy="594360"/>
          </a:xfrm>
          <a:prstGeom prst="rect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4712" y="4032504"/>
            <a:ext cx="329184" cy="329184"/>
          </a:xfrm>
          <a:prstGeom prst="ellipse">
            <a:avLst/>
          </a:prstGeom>
          <a:solidFill>
            <a:srgbClr val="F6B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4064508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032504"/>
            <a:ext cx="9491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F42"/>
                </a:solidFill>
                <a:latin typeface="Aptos"/>
              </a:rPr>
              <a:t>Trust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4453128"/>
            <a:ext cx="9902952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It exposes evidence, conflicts, policy, confidence, retries, and decisions in an audit trail.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636008"/>
            <a:ext cx="10378440" cy="594360"/>
          </a:xfrm>
          <a:prstGeom prst="roundRect">
            <a:avLst/>
          </a:prstGeom>
          <a:solidFill>
            <a:srgbClr val="102639"/>
          </a:solidFill>
          <a:ln w="15240">
            <a:solidFill>
              <a:srgbClr val="41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4636008"/>
            <a:ext cx="64008" cy="594360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4712" y="4837176"/>
            <a:ext cx="329184" cy="329184"/>
          </a:xfrm>
          <a:prstGeom prst="ellipse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869180"/>
            <a:ext cx="32918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8121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4837176"/>
            <a:ext cx="9491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BEE8"/>
                </a:solidFill>
                <a:latin typeface="Aptos"/>
              </a:rPr>
              <a:t>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" y="5257800"/>
            <a:ext cx="9902952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4F8FC"/>
                </a:solidFill>
                <a:latin typeface="Aptos"/>
              </a:rPr>
              <a:t>It shortens the path from a cost signal to a safe, reviewable remediation proposal.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41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10972"/>
          </a:xfrm>
          <a:prstGeom prst="rect">
            <a:avLst/>
          </a:prstGeom>
          <a:solidFill>
            <a:srgbClr val="48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14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329184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8DED8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669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GhostBusters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4D2"/>
                </a:solidFill>
                <a:latin typeface="Aptos"/>
              </a:rPr>
              <a:t>Autonomous investigation. Human-controlled remediation. Evidence you can trust.</a:t>
            </a:r>
          </a:p>
        </p:txBody>
      </p:sp>
      <p:pic>
        <p:nvPicPr>
          <p:cNvPr id="8" name="Picture 7" descr="Ghosto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219456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0" y="315468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4F8FC"/>
                </a:solidFill>
                <a:latin typeface="Aptos"/>
              </a:rPr>
              <a:t>Questions?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096512"/>
            <a:ext cx="8503920" cy="301752"/>
          </a:xfrm>
          <a:prstGeom prst="roundRect">
            <a:avLst/>
          </a:prstGeom>
          <a:solidFill>
            <a:srgbClr val="48DED8"/>
          </a:solidFill>
          <a:ln>
            <a:solidFill>
              <a:srgbClr val="48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4165092"/>
            <a:ext cx="835761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4F8FC"/>
                </a:solidFill>
                <a:latin typeface="Aptos"/>
              </a:rPr>
              <a:t>Goal-directed · multi-tool · adaptive · auditable · human-controlled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4632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EC4D2"/>
                </a:solidFill>
                <a:latin typeface="Aptos"/>
              </a:rPr>
              <a:t>Live demo: GhostOps dashboard → PR Review / Cloud Hunt → Technical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55664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C4D2"/>
                </a:solidFill>
                <a:latin typeface="Aptos"/>
              </a:rPr>
              <a:t>GhostBusters · NeuroX 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C4D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